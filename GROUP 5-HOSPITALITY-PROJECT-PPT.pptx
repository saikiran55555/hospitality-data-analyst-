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6" r:id="rId8"/>
    <p:sldId id="267" r:id="rId9"/>
    <p:sldId id="260" r:id="rId10"/>
    <p:sldId id="261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7DD4-E762-DE61-2E54-0AEFDC6D6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4" y="1595535"/>
            <a:ext cx="6815669" cy="858068"/>
          </a:xfrm>
        </p:spPr>
        <p:txBody>
          <a:bodyPr/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HOSPITALITY PROJECT 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BED07-283E-7D4C-C31B-6F410AFD5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3665" y="2453603"/>
            <a:ext cx="5964668" cy="2616888"/>
          </a:xfrm>
        </p:spPr>
        <p:txBody>
          <a:bodyPr>
            <a:normAutofit fontScale="25000" lnSpcReduction="20000"/>
          </a:bodyPr>
          <a:lstStyle/>
          <a:p>
            <a:r>
              <a:rPr lang="en-GB" sz="8000" dirty="0"/>
              <a:t>-Avala Sai Kiran  </a:t>
            </a:r>
          </a:p>
          <a:p>
            <a:r>
              <a:rPr lang="en-GB" sz="8000" dirty="0"/>
              <a:t> -</a:t>
            </a:r>
            <a:r>
              <a:rPr lang="en-IN" sz="8000" dirty="0" err="1"/>
              <a:t>Pannerselvam</a:t>
            </a:r>
            <a:r>
              <a:rPr lang="en-IN" sz="8000" dirty="0"/>
              <a:t> </a:t>
            </a:r>
            <a:r>
              <a:rPr lang="en-GB" sz="8000" dirty="0"/>
              <a:t>Rahul Kumar </a:t>
            </a:r>
          </a:p>
          <a:p>
            <a:r>
              <a:rPr lang="en-GB" sz="8000" dirty="0"/>
              <a:t>-Neha </a:t>
            </a:r>
            <a:r>
              <a:rPr lang="en-GB" sz="8000" dirty="0" err="1"/>
              <a:t>Devarashetty</a:t>
            </a:r>
            <a:endParaRPr lang="en-GB" sz="8000" dirty="0"/>
          </a:p>
          <a:p>
            <a:r>
              <a:rPr lang="en-IN" sz="8000" dirty="0"/>
              <a:t>-</a:t>
            </a:r>
            <a:r>
              <a:rPr lang="en-IN" sz="8000" dirty="0" err="1"/>
              <a:t>Shaik.Ameer</a:t>
            </a:r>
            <a:r>
              <a:rPr lang="en-IN" sz="8000" dirty="0"/>
              <a:t> shareef  </a:t>
            </a:r>
          </a:p>
          <a:p>
            <a:r>
              <a:rPr lang="en-IN" sz="8000" dirty="0"/>
              <a:t>-</a:t>
            </a:r>
            <a:r>
              <a:rPr lang="en-IN" sz="8000" dirty="0" err="1"/>
              <a:t>D.Mohan</a:t>
            </a:r>
            <a:r>
              <a:rPr lang="en-IN" sz="8000" dirty="0"/>
              <a:t> Kali Prasad  </a:t>
            </a:r>
          </a:p>
          <a:p>
            <a:r>
              <a:rPr lang="en-IN" sz="8000" dirty="0"/>
              <a:t>-</a:t>
            </a:r>
            <a:r>
              <a:rPr lang="en-IN" sz="8000" dirty="0" err="1"/>
              <a:t>Jampala</a:t>
            </a:r>
            <a:r>
              <a:rPr lang="en-IN" sz="8000" dirty="0"/>
              <a:t> Hanuman</a:t>
            </a:r>
          </a:p>
          <a:p>
            <a:pPr marL="571500" indent="-571500">
              <a:buFontTx/>
              <a:buChar char="-"/>
            </a:pPr>
            <a:r>
              <a:rPr lang="en-IN" sz="8000" dirty="0"/>
              <a:t>-</a:t>
            </a:r>
            <a:r>
              <a:rPr lang="en-IN" sz="8000" dirty="0" err="1"/>
              <a:t>Pepakayala</a:t>
            </a:r>
            <a:r>
              <a:rPr lang="en-IN" sz="8000" dirty="0"/>
              <a:t> Santhosh -Darshan V</a:t>
            </a:r>
          </a:p>
          <a:p>
            <a:pPr marL="571500" indent="-571500">
              <a:buFontTx/>
              <a:buChar char="-"/>
            </a:pPr>
            <a:endParaRPr lang="en-IN" sz="8000" dirty="0"/>
          </a:p>
          <a:p>
            <a:pPr marL="342900" indent="-342900">
              <a:buFontTx/>
              <a:buChar char="-"/>
            </a:pPr>
            <a:endParaRPr lang="en-GB" dirty="0"/>
          </a:p>
          <a:p>
            <a:r>
              <a:rPr lang="en-GB" dirty="0"/>
              <a:t>-</a:t>
            </a:r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356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5736-E688-2B0E-6C5E-15281841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5226A-676B-82B9-29DB-4DA50F46C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project focuses on analysing hospitality booking data to evaluate hotel performance.</a:t>
            </a:r>
          </a:p>
          <a:p>
            <a:r>
              <a:rPr lang="en-GB" dirty="0"/>
              <a:t>Key business metrics such as revenue, bookings, occupancy, and customer behaviour are examined.</a:t>
            </a:r>
          </a:p>
          <a:p>
            <a:r>
              <a:rPr lang="en-GB" dirty="0"/>
              <a:t>The insights from this analysis support data-driven decision-making for hotel management.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8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DC02A4-DD91-9EDB-3DB0-4A3260E79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202268"/>
          </a:xfrm>
        </p:spPr>
        <p:txBody>
          <a:bodyPr>
            <a:normAutofit/>
          </a:bodyPr>
          <a:lstStyle/>
          <a:p>
            <a:r>
              <a:rPr lang="en-GB" sz="2400" b="1" dirty="0"/>
              <a:t>REVENUE TREND BY MONTH(From Excel)</a:t>
            </a:r>
            <a:endParaRPr lang="en-IN" sz="2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3E6A0-0556-65F9-9E25-68A533784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2"/>
            <a:ext cx="3360771" cy="3048574"/>
          </a:xfrm>
        </p:spPr>
        <p:txBody>
          <a:bodyPr>
            <a:normAutofit/>
          </a:bodyPr>
          <a:lstStyle/>
          <a:p>
            <a:r>
              <a:rPr lang="en-GB" dirty="0"/>
              <a:t>Strong revenue in </a:t>
            </a:r>
            <a:r>
              <a:rPr lang="en-GB" b="1" dirty="0"/>
              <a:t>May</a:t>
            </a:r>
            <a:endParaRPr lang="en-GB" dirty="0"/>
          </a:p>
          <a:p>
            <a:r>
              <a:rPr lang="en-GB" dirty="0"/>
              <a:t>Temporary drop in </a:t>
            </a:r>
            <a:r>
              <a:rPr lang="en-GB" b="1" dirty="0"/>
              <a:t>June</a:t>
            </a:r>
            <a:endParaRPr lang="en-GB" dirty="0"/>
          </a:p>
          <a:p>
            <a:r>
              <a:rPr lang="en-GB" dirty="0"/>
              <a:t>Improvement again in </a:t>
            </a:r>
            <a:r>
              <a:rPr lang="en-GB" b="1" dirty="0"/>
              <a:t>July</a:t>
            </a: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0D25AA-264B-EC8B-54F2-9F7B95A04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11" y="1090413"/>
            <a:ext cx="6358402" cy="451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4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837993-CF68-4B71-B30D-9FF2DBDC6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C1EB0E-C682-4477-94FF-E3696ACD5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FA120B5-D483-4179-B163-E5D72313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9A685BA-AB04-4A20-A6D5-BA403BAA7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2823476-35C9-4E21-A7A8-8EE69CF2E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6AA5951-06F3-4E0D-9B67-2FDEAA46E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A70B2A-0F21-D967-DBB1-80B72B14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168" y="878114"/>
            <a:ext cx="2928751" cy="2208684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262626"/>
                </a:solidFill>
              </a:rPr>
              <a:t>WEEKLY TREND ANALYSIS(From Excel)</a:t>
            </a:r>
            <a:endParaRPr lang="en-IN" sz="2400" b="1" dirty="0">
              <a:solidFill>
                <a:srgbClr val="262626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54B2FF-092D-267B-510D-65DB92235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406" y="688312"/>
            <a:ext cx="6546426" cy="2465520"/>
          </a:xfrm>
        </p:spPr>
        <p:txBody>
          <a:bodyPr>
            <a:normAutofit/>
          </a:bodyPr>
          <a:lstStyle/>
          <a:p>
            <a:r>
              <a:rPr lang="en-GB" sz="2200" dirty="0"/>
              <a:t>Revenue and bookings show </a:t>
            </a:r>
            <a:r>
              <a:rPr lang="en-GB" sz="2200" b="1" dirty="0"/>
              <a:t>small fluctuations week by week</a:t>
            </a:r>
            <a:r>
              <a:rPr lang="en-GB" sz="2200" dirty="0"/>
              <a:t>.</a:t>
            </a:r>
          </a:p>
          <a:p>
            <a:r>
              <a:rPr lang="en-GB" sz="2200" b="1" dirty="0"/>
              <a:t>Mid-weeks perform better</a:t>
            </a:r>
            <a:r>
              <a:rPr lang="en-GB" sz="2200" dirty="0"/>
              <a:t>, with higher revenue and occupancy.</a:t>
            </a:r>
          </a:p>
          <a:p>
            <a:r>
              <a:rPr lang="en-GB" sz="2000" dirty="0"/>
              <a:t>A </a:t>
            </a:r>
            <a:r>
              <a:rPr lang="en-GB" sz="2000" b="1" dirty="0"/>
              <a:t>slight drop is seen towards the later weeks</a:t>
            </a:r>
            <a:r>
              <a:rPr lang="en-GB" sz="2000" dirty="0"/>
              <a:t>, indicating variability in demand.</a:t>
            </a:r>
            <a:endParaRPr lang="en-GB" sz="2200" dirty="0"/>
          </a:p>
          <a:p>
            <a:endParaRPr lang="en-GB" dirty="0"/>
          </a:p>
          <a:p>
            <a:endParaRPr lang="en-US" dirty="0">
              <a:solidFill>
                <a:srgbClr val="262626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4BCE0A-6524-D90A-8EDA-805CAC6F0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38286"/>
            <a:ext cx="10634471" cy="2831402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79814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432C0AF-41E5-34C4-C9B6-7FC065FC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822" y="982132"/>
            <a:ext cx="4118276" cy="1303867"/>
          </a:xfrm>
        </p:spPr>
        <p:txBody>
          <a:bodyPr>
            <a:normAutofit fontScale="90000"/>
          </a:bodyPr>
          <a:lstStyle/>
          <a:p>
            <a:r>
              <a:rPr lang="en-GB" sz="2400" b="1" dirty="0">
                <a:solidFill>
                  <a:srgbClr val="262626"/>
                </a:solidFill>
              </a:rPr>
              <a:t>TOTAL REVENUE &amp;BOOKING BY DAY-TYPE(WEEKDAY,WEEKEND)(From Tableau)</a:t>
            </a:r>
            <a:endParaRPr lang="en-IN" sz="2400" b="1" dirty="0">
              <a:solidFill>
                <a:srgbClr val="262626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ED2091-EAD5-02BC-BCE6-E814D1D27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134" y="1410208"/>
            <a:ext cx="5506357" cy="385878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15DC42-6DEE-C0C3-35D2-E8C0F2569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2"/>
            <a:ext cx="3618323" cy="3318936"/>
          </a:xfrm>
        </p:spPr>
        <p:txBody>
          <a:bodyPr>
            <a:normAutofit/>
          </a:bodyPr>
          <a:lstStyle/>
          <a:p>
            <a:r>
              <a:rPr lang="en-GB" sz="2200" dirty="0"/>
              <a:t>Majority of </a:t>
            </a:r>
            <a:r>
              <a:rPr lang="en-GB" sz="2200" b="1" dirty="0"/>
              <a:t>bookings occur on weekdays</a:t>
            </a:r>
          </a:p>
          <a:p>
            <a:r>
              <a:rPr lang="en-GB" sz="2200" b="1" dirty="0"/>
              <a:t>Revenue is significantly higher on weekdays</a:t>
            </a:r>
            <a:r>
              <a:rPr lang="en-GB" sz="2200" dirty="0"/>
              <a:t> than weekends.</a:t>
            </a:r>
          </a:p>
          <a:p>
            <a:r>
              <a:rPr lang="en-GB" sz="2200" b="1" dirty="0"/>
              <a:t>Weekends have lower contribution</a:t>
            </a:r>
            <a:r>
              <a:rPr lang="en-GB" sz="2200" dirty="0"/>
              <a:t> to overall performance.</a:t>
            </a:r>
          </a:p>
          <a:p>
            <a:endParaRPr lang="en-US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38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565E77-2C40-8D60-45C3-EE604751E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563532" cy="1303867"/>
          </a:xfrm>
        </p:spPr>
        <p:txBody>
          <a:bodyPr>
            <a:normAutofit fontScale="90000"/>
          </a:bodyPr>
          <a:lstStyle/>
          <a:p>
            <a:r>
              <a:rPr lang="en-GB" sz="2400" b="1" dirty="0"/>
              <a:t>TOTAL REVENUE BY ROOM-CATEGORY(From Tableau)</a:t>
            </a:r>
            <a:endParaRPr lang="en-IN" sz="2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B85AC2-1248-682C-EA6D-67FAA65D8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822" y="2556932"/>
            <a:ext cx="4137939" cy="3318936"/>
          </a:xfrm>
        </p:spPr>
        <p:txBody>
          <a:bodyPr>
            <a:noAutofit/>
          </a:bodyPr>
          <a:lstStyle/>
          <a:p>
            <a:r>
              <a:rPr lang="en-GB" sz="2200" b="1" dirty="0"/>
              <a:t>Elite rooms </a:t>
            </a:r>
            <a:r>
              <a:rPr lang="en-GB" sz="2200" dirty="0"/>
              <a:t>generate the highest revenue, contributing the largest share. </a:t>
            </a:r>
          </a:p>
          <a:p>
            <a:r>
              <a:rPr lang="en-GB" sz="2200" b="1" dirty="0"/>
              <a:t>Premium and Presidential </a:t>
            </a:r>
            <a:r>
              <a:rPr lang="en-GB" sz="2200" dirty="0"/>
              <a:t>classes also contribute significantly to overall revenue.</a:t>
            </a:r>
          </a:p>
          <a:p>
            <a:r>
              <a:rPr lang="en-GB" sz="2200" dirty="0"/>
              <a:t> </a:t>
            </a:r>
            <a:r>
              <a:rPr lang="en-GB" sz="2200" b="1" dirty="0"/>
              <a:t>Standard rooms </a:t>
            </a:r>
            <a:r>
              <a:rPr lang="en-GB" sz="2200" dirty="0"/>
              <a:t>contribute the least, indicating lower pricing or demand.</a:t>
            </a: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F4A945-A07E-BB3A-4BC5-D08CEFB2E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135" y="1425677"/>
            <a:ext cx="5589739" cy="385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8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0B53B-01B0-75CC-8525-A5C711E8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AD8FE4-066C-05EA-5622-B4D2C2F9D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C5A7DF-3CA6-32D7-83D3-CED4415A0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EFFC362-1A00-A156-5404-D956EB263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E6A95F-844D-4577-0BDB-82FAC416DC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66F520E-42D6-3DDA-A967-1BFA72F20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B961ADC-455A-EB63-3CB0-DB8B321138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C52B80-BC7F-385A-ECEC-E59D87AE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563532" cy="1303867"/>
          </a:xfrm>
        </p:spPr>
        <p:txBody>
          <a:bodyPr>
            <a:normAutofit/>
          </a:bodyPr>
          <a:lstStyle/>
          <a:p>
            <a:r>
              <a:rPr lang="en-GB" sz="2400" b="1" dirty="0"/>
              <a:t>TOTAL REVENUE BY BOOKING_PLATFORM(From </a:t>
            </a:r>
            <a:r>
              <a:rPr lang="en-GB" sz="2400" b="1" dirty="0" err="1"/>
              <a:t>PowerBI</a:t>
            </a:r>
            <a:r>
              <a:rPr lang="en-GB" sz="2400" b="1" dirty="0"/>
              <a:t>)</a:t>
            </a:r>
            <a:endParaRPr lang="en-IN" sz="2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E4DA89-D965-185F-EE32-6791C01A1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E41897-20B4-400D-AD5F-ED80A9706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D2735D-CFEC-43E5-D147-CD7183757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822" y="2556932"/>
            <a:ext cx="4137939" cy="3318936"/>
          </a:xfrm>
        </p:spPr>
        <p:txBody>
          <a:bodyPr>
            <a:noAutofit/>
          </a:bodyPr>
          <a:lstStyle/>
          <a:p>
            <a:r>
              <a:rPr lang="en-GB" sz="2000" b="1" dirty="0"/>
              <a:t>Other platforms contribute the highest revenue</a:t>
            </a:r>
            <a:r>
              <a:rPr lang="en-GB" sz="2000" dirty="0"/>
              <a:t>, making them the top revenue source.</a:t>
            </a:r>
          </a:p>
          <a:p>
            <a:r>
              <a:rPr lang="en-GB" sz="2000" b="1" dirty="0" err="1"/>
              <a:t>MakeYourTrip</a:t>
            </a:r>
            <a:r>
              <a:rPr lang="en-GB" sz="2000" b="1" dirty="0"/>
              <a:t> and </a:t>
            </a:r>
            <a:r>
              <a:rPr lang="en-GB" sz="2000" b="1" dirty="0" err="1"/>
              <a:t>LogTrip</a:t>
            </a:r>
            <a:r>
              <a:rPr lang="en-GB" sz="2000" dirty="0"/>
              <a:t> are the next major contributors.</a:t>
            </a:r>
          </a:p>
          <a:p>
            <a:r>
              <a:rPr lang="en-GB" sz="2000" b="1" dirty="0"/>
              <a:t>Direct online and smaller platforms</a:t>
            </a:r>
            <a:r>
              <a:rPr lang="en-GB" sz="2000" dirty="0"/>
              <a:t> generate comparatively lower revenue.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96A62-9840-2A16-94D9-298B7B067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390" y="1250696"/>
            <a:ext cx="5765382" cy="384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11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43565-F9A9-5FCF-4046-D8FB17F2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18982D-9369-8922-9A2E-7DEB583C9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00E276-F7CF-DDA0-4A44-60AEA15F8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B6F6F42-1D23-8455-ACEB-CD174748E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AF5E26-AECA-BD53-E382-453E1A963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C587676-8EE9-6C1F-78F8-32FDF1B3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415918-A61C-DA03-0DC5-337F965D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5EE2C5-C44B-73DA-8293-ACFBC0836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469" y="982132"/>
            <a:ext cx="3852137" cy="1303867"/>
          </a:xfrm>
        </p:spPr>
        <p:txBody>
          <a:bodyPr>
            <a:normAutofit/>
          </a:bodyPr>
          <a:lstStyle/>
          <a:p>
            <a:r>
              <a:rPr lang="en-GB" sz="2400" b="1" dirty="0"/>
              <a:t>TOTAL REVENUE BY      PROPERTY_NAME  (From </a:t>
            </a:r>
            <a:r>
              <a:rPr lang="en-GB" sz="2400" b="1" dirty="0" err="1"/>
              <a:t>PowerBI</a:t>
            </a:r>
            <a:r>
              <a:rPr lang="en-GB" sz="2400" b="1" dirty="0"/>
              <a:t>)</a:t>
            </a:r>
            <a:endParaRPr lang="en-IN" sz="2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E9ADFD-4E8C-FE69-F860-D273C2C1D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4F1BB8-F080-A4DA-B062-0819495B8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3D9BDCF-CB5F-0886-67CD-A2370344B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822" y="2556932"/>
            <a:ext cx="4137939" cy="3318936"/>
          </a:xfrm>
        </p:spPr>
        <p:txBody>
          <a:bodyPr>
            <a:noAutofit/>
          </a:bodyPr>
          <a:lstStyle/>
          <a:p>
            <a:r>
              <a:rPr lang="en-GB" sz="2000" b="1" dirty="0" err="1"/>
              <a:t>Atliq</a:t>
            </a:r>
            <a:r>
              <a:rPr lang="en-GB" sz="2000" b="1" dirty="0"/>
              <a:t> Exotica generates the highest revenue</a:t>
            </a:r>
            <a:r>
              <a:rPr lang="en-GB" sz="2000" dirty="0"/>
              <a:t> among all properties. </a:t>
            </a:r>
          </a:p>
          <a:p>
            <a:r>
              <a:rPr lang="en-GB" sz="2000" b="1" dirty="0"/>
              <a:t>Most properties contribute a balanced share</a:t>
            </a:r>
            <a:r>
              <a:rPr lang="en-GB" sz="2000" dirty="0"/>
              <a:t> to total revenue.</a:t>
            </a:r>
          </a:p>
          <a:p>
            <a:r>
              <a:rPr lang="en-GB" sz="2000" b="1" dirty="0"/>
              <a:t>Some properties have lower revenue</a:t>
            </a:r>
            <a:r>
              <a:rPr lang="en-GB" sz="2000" dirty="0"/>
              <a:t>, showing room for improvement.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0286A-BA0B-52D4-C552-CA5D7ACC5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4" y="1223465"/>
            <a:ext cx="5540470" cy="427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3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9D6D-E73E-A17B-1F22-60AB772D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10826"/>
            <a:ext cx="9601196" cy="525121"/>
          </a:xfrm>
        </p:spPr>
        <p:txBody>
          <a:bodyPr>
            <a:normAutofit fontScale="90000"/>
          </a:bodyPr>
          <a:lstStyle/>
          <a:p>
            <a:r>
              <a:rPr lang="en-GB" dirty="0"/>
              <a:t>EXCEL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4FF234-30F1-68AD-45AD-488DF8372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942" y="1326381"/>
            <a:ext cx="11179277" cy="506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9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6316-4A57-5E10-5E71-7C374FCC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80683"/>
            <a:ext cx="9601196" cy="575361"/>
          </a:xfrm>
        </p:spPr>
        <p:txBody>
          <a:bodyPr>
            <a:normAutofit fontScale="90000"/>
          </a:bodyPr>
          <a:lstStyle/>
          <a:p>
            <a:r>
              <a:rPr lang="en-GB" dirty="0"/>
              <a:t>TABLEAU DASHBOARD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44FD5A-A659-0540-F297-F07775666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456" y="1256044"/>
            <a:ext cx="10911099" cy="50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0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421EC-8A6D-CE75-3162-D3E7D26F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20876"/>
            <a:ext cx="9601196" cy="685894"/>
          </a:xfrm>
        </p:spPr>
        <p:txBody>
          <a:bodyPr>
            <a:normAutofit fontScale="90000"/>
          </a:bodyPr>
          <a:lstStyle/>
          <a:p>
            <a:r>
              <a:rPr lang="en-GB" dirty="0"/>
              <a:t>POWERBI 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0ACEB8-DCB4-6E33-962F-F6E32F4ED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186" y="1517300"/>
            <a:ext cx="10885370" cy="47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90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05E53-0745-7FE9-6883-BB35AEC3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90E8F-848A-AE88-5884-484E1780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66219"/>
            <a:ext cx="9601196" cy="3309649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Boost weekend performance</a:t>
            </a:r>
            <a:r>
              <a:rPr lang="en-GB" dirty="0"/>
              <a:t> by introducing attractive offers, packages, and dynamic pricing strategies.</a:t>
            </a:r>
          </a:p>
          <a:p>
            <a:r>
              <a:rPr lang="en-GB" b="1" dirty="0"/>
              <a:t>Increase revenue through premium room upselling</a:t>
            </a:r>
            <a:r>
              <a:rPr lang="en-GB" dirty="0"/>
              <a:t>, especially for Elite and Premium categories.</a:t>
            </a:r>
          </a:p>
          <a:p>
            <a:r>
              <a:rPr lang="en-GB" b="1" dirty="0"/>
              <a:t>Use demand trends for smarter planning</a:t>
            </a:r>
            <a:r>
              <a:rPr lang="en-GB" dirty="0"/>
              <a:t>, adjusting pricing and availability based on weekly and monthly insights.</a:t>
            </a:r>
          </a:p>
          <a:p>
            <a:r>
              <a:rPr lang="en-GB" b="1" dirty="0"/>
              <a:t>Improve booking reliability</a:t>
            </a:r>
            <a:r>
              <a:rPr lang="en-GB" dirty="0"/>
              <a:t> by reducing cancellations through timely reminders and flexible policies.</a:t>
            </a:r>
          </a:p>
          <a:p>
            <a:endParaRPr lang="en-GB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10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6851F-1481-D67E-B45D-37A44DE3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F5B05-11EA-8B6D-BB26-686B60F2C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project transforms raw booking data into meaningful insights through interactive dashboards.</a:t>
            </a:r>
            <a:br>
              <a:rPr lang="en-GB" dirty="0"/>
            </a:br>
            <a:r>
              <a:rPr lang="en-GB" dirty="0"/>
              <a:t>It highlights important patterns in revenue, occupancy, and customer behaviour.</a:t>
            </a:r>
            <a:br>
              <a:rPr lang="en-GB" dirty="0"/>
            </a:br>
            <a:r>
              <a:rPr lang="en-GB" dirty="0"/>
              <a:t>The analysis supports informed decisions on pricing, demand management, and promotions.</a:t>
            </a:r>
          </a:p>
          <a:p>
            <a:pPr marL="0" indent="0">
              <a:buNone/>
            </a:pPr>
            <a:r>
              <a:rPr lang="en-GB" dirty="0"/>
              <a:t>Overall, the project demonstrates how data can improve business performance and revenue growth.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104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465</TotalTime>
  <Words>432</Words>
  <Application>Microsoft Office PowerPoint</Application>
  <PresentationFormat>Widescreen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Times New Roman</vt:lpstr>
      <vt:lpstr>Organic</vt:lpstr>
      <vt:lpstr>HOSPITALITY PROJECT </vt:lpstr>
      <vt:lpstr>INTRODUCTION</vt:lpstr>
      <vt:lpstr>REVENUE TREND BY MONTH(From Excel)</vt:lpstr>
      <vt:lpstr>WEEKLY TREND ANALYSIS(From Excel)</vt:lpstr>
      <vt:lpstr>TOTAL REVENUE &amp;BOOKING BY DAY-TYPE(WEEKDAY,WEEKEND)(From Tableau)</vt:lpstr>
      <vt:lpstr>TOTAL REVENUE BY ROOM-CATEGORY(From Tableau)</vt:lpstr>
      <vt:lpstr>TOTAL REVENUE BY BOOKING_PLATFORM(From PowerBI)</vt:lpstr>
      <vt:lpstr>TOTAL REVENUE BY      PROPERTY_NAME  (From PowerBI)</vt:lpstr>
      <vt:lpstr>EXCEL DASHBOARD</vt:lpstr>
      <vt:lpstr>TABLEAU DASHBOARD</vt:lpstr>
      <vt:lpstr>POWERBI DASHBOARD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neha.devarashetty21@gmail.com</dc:creator>
  <cp:lastModifiedBy>sai kiran avala</cp:lastModifiedBy>
  <cp:revision>5</cp:revision>
  <dcterms:created xsi:type="dcterms:W3CDTF">2026-02-06T05:42:36Z</dcterms:created>
  <dcterms:modified xsi:type="dcterms:W3CDTF">2026-03-21T08:34:37Z</dcterms:modified>
</cp:coreProperties>
</file>